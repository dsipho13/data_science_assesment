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Nunito"/>
      <p:regular r:id="rId11"/>
      <p:bold r:id="rId12"/>
      <p:italic r:id="rId13"/>
      <p:boldItalic r:id="rId14"/>
    </p:embeddedFont>
    <p:embeddedFont>
      <p:font typeface="Maven Pro"/>
      <p:regular r:id="rId15"/>
      <p:bold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Nunito-regular.fntdata"/><Relationship Id="rId10" Type="http://schemas.openxmlformats.org/officeDocument/2006/relationships/slide" Target="slides/slide5.xml"/><Relationship Id="rId13" Type="http://schemas.openxmlformats.org/officeDocument/2006/relationships/font" Target="fonts/Nunito-italic.fntdata"/><Relationship Id="rId12" Type="http://schemas.openxmlformats.org/officeDocument/2006/relationships/font" Target="fonts/Nuni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avenPro-regular.fntdata"/><Relationship Id="rId14" Type="http://schemas.openxmlformats.org/officeDocument/2006/relationships/font" Target="fonts/Nunito-boldItalic.fntdata"/><Relationship Id="rId16" Type="http://schemas.openxmlformats.org/officeDocument/2006/relationships/font" Target="fonts/MavenPro-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4681d91e61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4681d91e61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4681d91e61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4681d91e61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4681d91e61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4681d91e61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4681d91e61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4681d91e61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FA8DC"/>
        </a:solidFill>
      </p:bgPr>
    </p:bg>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GB"/>
              <a:t>Student performance </a:t>
            </a:r>
            <a:endParaRPr/>
          </a:p>
          <a:p>
            <a:pPr indent="0" lvl="0" marL="0" rtl="0" algn="l">
              <a:spcBef>
                <a:spcPts val="0"/>
              </a:spcBef>
              <a:spcAft>
                <a:spcPts val="0"/>
              </a:spcAft>
              <a:buNone/>
            </a:pPr>
            <a:r>
              <a:rPr lang="en-GB"/>
              <a:t>analysis</a:t>
            </a:r>
            <a:endParaRPr/>
          </a:p>
        </p:txBody>
      </p:sp>
      <p:sp>
        <p:nvSpPr>
          <p:cNvPr id="278" name="Google Shape;278;p13"/>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Data Science assessment for Andani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Student performance on the VLE</a:t>
            </a:r>
            <a:endParaRPr/>
          </a:p>
        </p:txBody>
      </p:sp>
      <p:sp>
        <p:nvSpPr>
          <p:cNvPr id="284" name="Google Shape;284;p14"/>
          <p:cNvSpPr txBox="1"/>
          <p:nvPr>
            <p:ph idx="1" type="body"/>
          </p:nvPr>
        </p:nvSpPr>
        <p:spPr>
          <a:xfrm>
            <a:off x="4923300" y="1895675"/>
            <a:ext cx="3114300" cy="2626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 The visual indicates that a majority of students successfully pass, showcasing the effectiveness of current educational processes. However, the significant number of failures, coupled with the low number of distinctions and withdrawals, suggests opportunities for targeted interventions. </a:t>
            </a:r>
            <a:endParaRPr/>
          </a:p>
        </p:txBody>
      </p:sp>
      <p:pic>
        <p:nvPicPr>
          <p:cNvPr id="285" name="Google Shape;285;p14"/>
          <p:cNvPicPr preferRelativeResize="0"/>
          <p:nvPr/>
        </p:nvPicPr>
        <p:blipFill>
          <a:blip r:embed="rId3">
            <a:alphaModFix/>
          </a:blip>
          <a:stretch>
            <a:fillRect/>
          </a:stretch>
        </p:blipFill>
        <p:spPr>
          <a:xfrm>
            <a:off x="742250" y="1640438"/>
            <a:ext cx="3770423" cy="324082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Student engagements Vs Performance</a:t>
            </a:r>
            <a:endParaRPr/>
          </a:p>
        </p:txBody>
      </p:sp>
      <p:sp>
        <p:nvSpPr>
          <p:cNvPr id="291" name="Google Shape;291;p15"/>
          <p:cNvSpPr txBox="1"/>
          <p:nvPr>
            <p:ph idx="1" type="body"/>
          </p:nvPr>
        </p:nvSpPr>
        <p:spPr>
          <a:xfrm>
            <a:off x="4947000" y="1914663"/>
            <a:ext cx="3387300" cy="267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This </a:t>
            </a:r>
            <a:r>
              <a:rPr lang="en-GB"/>
              <a:t>visual</a:t>
            </a:r>
            <a:r>
              <a:rPr lang="en-GB"/>
              <a:t> shows that there </a:t>
            </a:r>
            <a:r>
              <a:rPr lang="en-GB"/>
              <a:t>exists </a:t>
            </a:r>
            <a:r>
              <a:rPr lang="en-GB"/>
              <a:t> a strong correlation between student engagement (clicks) in the Virtual learning environment and final results. Students with fewer clicks are more likely to fail or withdraw, while those with higher engagement tend to pass and achieve distinctions.</a:t>
            </a:r>
            <a:endParaRPr/>
          </a:p>
          <a:p>
            <a:pPr indent="0" lvl="0" marL="0" rtl="0" algn="l">
              <a:spcBef>
                <a:spcPts val="1200"/>
              </a:spcBef>
              <a:spcAft>
                <a:spcPts val="1200"/>
              </a:spcAft>
              <a:buNone/>
            </a:pPr>
            <a:r>
              <a:t/>
            </a:r>
            <a:endParaRPr/>
          </a:p>
        </p:txBody>
      </p:sp>
      <p:pic>
        <p:nvPicPr>
          <p:cNvPr id="292" name="Google Shape;292;p15"/>
          <p:cNvPicPr preferRelativeResize="0"/>
          <p:nvPr/>
        </p:nvPicPr>
        <p:blipFill>
          <a:blip r:embed="rId3">
            <a:alphaModFix/>
          </a:blip>
          <a:stretch>
            <a:fillRect/>
          </a:stretch>
        </p:blipFill>
        <p:spPr>
          <a:xfrm>
            <a:off x="406700" y="1860375"/>
            <a:ext cx="4000149" cy="2779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Key Findings</a:t>
            </a:r>
            <a:endParaRPr/>
          </a:p>
        </p:txBody>
      </p:sp>
      <p:sp>
        <p:nvSpPr>
          <p:cNvPr id="298" name="Google Shape;298;p16"/>
          <p:cNvSpPr txBox="1"/>
          <p:nvPr>
            <p:ph idx="1" type="body"/>
          </p:nvPr>
        </p:nvSpPr>
        <p:spPr>
          <a:xfrm>
            <a:off x="1303800" y="1305525"/>
            <a:ext cx="7030500" cy="3226200"/>
          </a:xfrm>
          <a:prstGeom prst="rect">
            <a:avLst/>
          </a:prstGeom>
        </p:spPr>
        <p:txBody>
          <a:bodyPr anchorCtr="0" anchor="t" bIns="91425" lIns="91425" spcFirstLastPara="1" rIns="91425" wrap="square" tIns="91425">
            <a:normAutofit fontScale="25000"/>
          </a:bodyPr>
          <a:lstStyle/>
          <a:p>
            <a:pPr indent="-293137" lvl="0" marL="457200" rtl="0" algn="l">
              <a:spcBef>
                <a:spcPts val="1000"/>
              </a:spcBef>
              <a:spcAft>
                <a:spcPts val="0"/>
              </a:spcAft>
              <a:buClr>
                <a:srgbClr val="000000"/>
              </a:buClr>
              <a:buSzPct val="100000"/>
              <a:buAutoNum type="arabicPeriod"/>
            </a:pPr>
            <a:r>
              <a:rPr b="1" lang="en-GB" sz="4065">
                <a:solidFill>
                  <a:srgbClr val="000000"/>
                </a:solidFill>
              </a:rPr>
              <a:t>Higher engagement leads to better performance</a:t>
            </a:r>
            <a:r>
              <a:rPr lang="en-GB" sz="4065">
                <a:solidFill>
                  <a:srgbClr val="000000"/>
                </a:solidFill>
              </a:rPr>
              <a:t>: Students who interact more with the Virtual Learning Environment (VLE) have higher chances of passing or achieving distinctions</a:t>
            </a:r>
            <a:r>
              <a:rPr lang="en-GB" sz="4065">
                <a:solidFill>
                  <a:srgbClr val="000000"/>
                </a:solidFill>
              </a:rPr>
              <a:t>.</a:t>
            </a:r>
            <a:endParaRPr sz="4065">
              <a:solidFill>
                <a:srgbClr val="000000"/>
              </a:solidFill>
            </a:endParaRPr>
          </a:p>
          <a:p>
            <a:pPr indent="-293137" lvl="0" marL="457200" rtl="0" algn="l">
              <a:spcBef>
                <a:spcPts val="1200"/>
              </a:spcBef>
              <a:spcAft>
                <a:spcPts val="0"/>
              </a:spcAft>
              <a:buClr>
                <a:srgbClr val="000000"/>
              </a:buClr>
              <a:buSzPct val="100000"/>
              <a:buAutoNum type="arabicPeriod"/>
            </a:pPr>
            <a:r>
              <a:rPr b="1" lang="en-GB" sz="4065">
                <a:solidFill>
                  <a:srgbClr val="000000"/>
                </a:solidFill>
              </a:rPr>
              <a:t>Assessment scores strongly predict final results</a:t>
            </a:r>
            <a:r>
              <a:rPr lang="en-GB" sz="4065">
                <a:solidFill>
                  <a:srgbClr val="000000"/>
                </a:solidFill>
              </a:rPr>
              <a:t>: Students with high assessment percentages are more likely to succeed, while those with low scores are at risk of failing or withdrawing.</a:t>
            </a:r>
            <a:endParaRPr sz="4065">
              <a:solidFill>
                <a:srgbClr val="000000"/>
              </a:solidFill>
            </a:endParaRPr>
          </a:p>
          <a:p>
            <a:pPr indent="-293137" lvl="0" marL="457200" rtl="0" algn="l">
              <a:spcBef>
                <a:spcPts val="1000"/>
              </a:spcBef>
              <a:spcAft>
                <a:spcPts val="0"/>
              </a:spcAft>
              <a:buClr>
                <a:srgbClr val="000000"/>
              </a:buClr>
              <a:buSzPct val="100000"/>
              <a:buAutoNum type="arabicPeriod"/>
            </a:pPr>
            <a:r>
              <a:rPr b="1" lang="en-GB" sz="4065">
                <a:solidFill>
                  <a:srgbClr val="000000"/>
                </a:solidFill>
              </a:rPr>
              <a:t> Consistent participation improves success rates</a:t>
            </a:r>
            <a:r>
              <a:rPr lang="en-GB" sz="4065">
                <a:solidFill>
                  <a:srgbClr val="000000"/>
                </a:solidFill>
              </a:rPr>
              <a:t>: Students who engage with the VLE over multiple weeks perform better than those who disengage early.</a:t>
            </a:r>
            <a:endParaRPr sz="4065">
              <a:solidFill>
                <a:srgbClr val="000000"/>
              </a:solidFill>
            </a:endParaRPr>
          </a:p>
          <a:p>
            <a:pPr indent="-293137" lvl="0" marL="457200" rtl="0" algn="l">
              <a:spcBef>
                <a:spcPts val="1000"/>
              </a:spcBef>
              <a:spcAft>
                <a:spcPts val="0"/>
              </a:spcAft>
              <a:buClr>
                <a:srgbClr val="000000"/>
              </a:buClr>
              <a:buSzPct val="100000"/>
              <a:buAutoNum type="arabicPeriod"/>
            </a:pPr>
            <a:r>
              <a:rPr b="1" lang="en-GB" sz="4065">
                <a:solidFill>
                  <a:srgbClr val="000000"/>
                </a:solidFill>
              </a:rPr>
              <a:t>Credit load does not determine success: </a:t>
            </a:r>
            <a:r>
              <a:rPr lang="en-GB" sz="4065">
                <a:solidFill>
                  <a:srgbClr val="000000"/>
                </a:solidFill>
              </a:rPr>
              <a:t>The number of studied credits has no clear impact on final results; engagement and assessments matter more.</a:t>
            </a:r>
            <a:endParaRPr sz="4065">
              <a:solidFill>
                <a:srgbClr val="000000"/>
              </a:solidFill>
            </a:endParaRPr>
          </a:p>
          <a:p>
            <a:pPr indent="-293137" lvl="0" marL="457200" rtl="0" algn="l">
              <a:spcBef>
                <a:spcPts val="1000"/>
              </a:spcBef>
              <a:spcAft>
                <a:spcPts val="0"/>
              </a:spcAft>
              <a:buClr>
                <a:srgbClr val="000000"/>
              </a:buClr>
              <a:buSzPct val="100000"/>
              <a:buAutoNum type="arabicPeriod"/>
            </a:pPr>
            <a:r>
              <a:rPr lang="en-GB" sz="4065">
                <a:solidFill>
                  <a:srgbClr val="000000"/>
                </a:solidFill>
              </a:rPr>
              <a:t> </a:t>
            </a:r>
            <a:r>
              <a:rPr b="1" lang="en-GB" sz="4065">
                <a:solidFill>
                  <a:srgbClr val="000000"/>
                </a:solidFill>
              </a:rPr>
              <a:t>Retaking a course does not guarantee improvement: S</a:t>
            </a:r>
            <a:r>
              <a:rPr lang="en-GB" sz="4065">
                <a:solidFill>
                  <a:srgbClr val="000000"/>
                </a:solidFill>
              </a:rPr>
              <a:t>tudents who attempt the course multiple times do not necessarily perform better, indicating the need for better support in reattempts.</a:t>
            </a:r>
            <a:endParaRPr sz="4065">
              <a:solidFill>
                <a:srgbClr val="000000"/>
              </a:solidFill>
            </a:endParaRPr>
          </a:p>
          <a:p>
            <a:pPr indent="-293137" lvl="0" marL="457200" rtl="0" algn="l">
              <a:spcBef>
                <a:spcPts val="1000"/>
              </a:spcBef>
              <a:spcAft>
                <a:spcPts val="0"/>
              </a:spcAft>
              <a:buClr>
                <a:srgbClr val="000000"/>
              </a:buClr>
              <a:buSzPct val="100000"/>
              <a:buAutoNum type="arabicPeriod"/>
            </a:pPr>
            <a:r>
              <a:rPr b="1" lang="en-GB" sz="4065">
                <a:solidFill>
                  <a:srgbClr val="000000"/>
                </a:solidFill>
              </a:rPr>
              <a:t>Engagement is the strongest predictor of student success</a:t>
            </a:r>
            <a:r>
              <a:rPr lang="en-GB" sz="4065">
                <a:solidFill>
                  <a:srgbClr val="000000"/>
                </a:solidFill>
              </a:rPr>
              <a:t>: The total number of clicks on course materials is the most influential factor in determining final outcomes.</a:t>
            </a:r>
            <a:endParaRPr sz="4065">
              <a:solidFill>
                <a:srgbClr val="000000"/>
              </a:solidFill>
            </a:endParaRPr>
          </a:p>
          <a:p>
            <a:pPr indent="0" lvl="0" marL="0" rtl="0" algn="l">
              <a:spcBef>
                <a:spcPts val="1200"/>
              </a:spcBef>
              <a:spcAft>
                <a:spcPts val="1200"/>
              </a:spcAft>
              <a:buNone/>
            </a:pPr>
            <a:r>
              <a:t/>
            </a:r>
            <a:endParaRPr sz="1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Action Items</a:t>
            </a:r>
            <a:endParaRPr/>
          </a:p>
        </p:txBody>
      </p:sp>
      <p:sp>
        <p:nvSpPr>
          <p:cNvPr id="304" name="Google Shape;304;p17"/>
          <p:cNvSpPr txBox="1"/>
          <p:nvPr>
            <p:ph idx="1" type="body"/>
          </p:nvPr>
        </p:nvSpPr>
        <p:spPr>
          <a:xfrm>
            <a:off x="1303800" y="1447800"/>
            <a:ext cx="7030500" cy="35052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SzPts val="275"/>
              <a:buNone/>
            </a:pPr>
            <a:r>
              <a:rPr lang="en-GB" sz="875">
                <a:solidFill>
                  <a:srgbClr val="000000"/>
                </a:solidFill>
              </a:rPr>
              <a:t>✅</a:t>
            </a:r>
            <a:r>
              <a:rPr b="1" lang="en-GB" sz="875">
                <a:solidFill>
                  <a:srgbClr val="000000"/>
                </a:solidFill>
              </a:rPr>
              <a:t> Increase Student Engagement</a:t>
            </a:r>
            <a:endParaRPr b="1" sz="875">
              <a:solidFill>
                <a:srgbClr val="000000"/>
              </a:solidFill>
            </a:endParaRPr>
          </a:p>
          <a:p>
            <a:pPr indent="-284162" lvl="0" marL="457200" rtl="0" algn="l">
              <a:lnSpc>
                <a:spcPct val="95000"/>
              </a:lnSpc>
              <a:spcBef>
                <a:spcPts val="1200"/>
              </a:spcBef>
              <a:spcAft>
                <a:spcPts val="0"/>
              </a:spcAft>
              <a:buClr>
                <a:srgbClr val="000000"/>
              </a:buClr>
              <a:buSzPts val="875"/>
              <a:buFont typeface="Nunito"/>
              <a:buChar char="●"/>
            </a:pPr>
            <a:r>
              <a:rPr lang="en-GB" sz="875">
                <a:solidFill>
                  <a:srgbClr val="000000"/>
                </a:solidFill>
              </a:rPr>
              <a:t>Use interactive course materials like videos, and discussions to encourage participation.</a:t>
            </a:r>
            <a:br>
              <a:rPr lang="en-GB" sz="875">
                <a:solidFill>
                  <a:srgbClr val="000000"/>
                </a:solidFill>
              </a:rPr>
            </a:br>
            <a:endParaRPr b="1" sz="875">
              <a:solidFill>
                <a:srgbClr val="000000"/>
              </a:solidFill>
            </a:endParaRPr>
          </a:p>
          <a:p>
            <a:pPr indent="0" lvl="0" marL="0" rtl="0" algn="l">
              <a:lnSpc>
                <a:spcPct val="95000"/>
              </a:lnSpc>
              <a:spcBef>
                <a:spcPts val="1200"/>
              </a:spcBef>
              <a:spcAft>
                <a:spcPts val="0"/>
              </a:spcAft>
              <a:buSzPts val="275"/>
              <a:buNone/>
            </a:pPr>
            <a:r>
              <a:rPr b="1" lang="en-GB" sz="875">
                <a:solidFill>
                  <a:srgbClr val="000000"/>
                </a:solidFill>
              </a:rPr>
              <a:t>✅ Identify and Support At-Risk Students Early</a:t>
            </a:r>
            <a:endParaRPr b="1" sz="875">
              <a:solidFill>
                <a:srgbClr val="000000"/>
              </a:solidFill>
            </a:endParaRPr>
          </a:p>
          <a:p>
            <a:pPr indent="-284162" lvl="0" marL="457200" rtl="0" algn="l">
              <a:lnSpc>
                <a:spcPct val="95000"/>
              </a:lnSpc>
              <a:spcBef>
                <a:spcPts val="1200"/>
              </a:spcBef>
              <a:spcAft>
                <a:spcPts val="0"/>
              </a:spcAft>
              <a:buClr>
                <a:srgbClr val="000000"/>
              </a:buClr>
              <a:buSzPts val="875"/>
              <a:buFont typeface="Nunito"/>
              <a:buChar char="●"/>
            </a:pPr>
            <a:r>
              <a:rPr lang="en-GB" sz="875">
                <a:solidFill>
                  <a:srgbClr val="000000"/>
                </a:solidFill>
              </a:rPr>
              <a:t>Track low-engagement students and provide targeted support through mentoring or academic counseling.</a:t>
            </a:r>
            <a:br>
              <a:rPr lang="en-GB" sz="875">
                <a:solidFill>
                  <a:srgbClr val="000000"/>
                </a:solidFill>
              </a:rPr>
            </a:br>
            <a:endParaRPr sz="875">
              <a:solidFill>
                <a:srgbClr val="000000"/>
              </a:solidFill>
            </a:endParaRPr>
          </a:p>
          <a:p>
            <a:pPr indent="-284162" lvl="0" marL="457200" rtl="0" algn="l">
              <a:lnSpc>
                <a:spcPct val="95000"/>
              </a:lnSpc>
              <a:spcBef>
                <a:spcPts val="0"/>
              </a:spcBef>
              <a:spcAft>
                <a:spcPts val="0"/>
              </a:spcAft>
              <a:buClr>
                <a:srgbClr val="000000"/>
              </a:buClr>
              <a:buSzPts val="875"/>
              <a:buFont typeface="Nunito"/>
              <a:buChar char="●"/>
            </a:pPr>
            <a:r>
              <a:rPr lang="en-GB" sz="875">
                <a:solidFill>
                  <a:srgbClr val="000000"/>
                </a:solidFill>
              </a:rPr>
              <a:t>Offer additional learning resources or study sessions to struggling students.</a:t>
            </a:r>
            <a:br>
              <a:rPr lang="en-GB" sz="875">
                <a:solidFill>
                  <a:srgbClr val="000000"/>
                </a:solidFill>
              </a:rPr>
            </a:br>
            <a:endParaRPr b="1" sz="875">
              <a:solidFill>
                <a:srgbClr val="000000"/>
              </a:solidFill>
            </a:endParaRPr>
          </a:p>
          <a:p>
            <a:pPr indent="0" lvl="0" marL="0" rtl="0" algn="l">
              <a:lnSpc>
                <a:spcPct val="95000"/>
              </a:lnSpc>
              <a:spcBef>
                <a:spcPts val="1200"/>
              </a:spcBef>
              <a:spcAft>
                <a:spcPts val="0"/>
              </a:spcAft>
              <a:buSzPts val="275"/>
              <a:buNone/>
            </a:pPr>
            <a:r>
              <a:rPr b="1" lang="en-GB" sz="875">
                <a:solidFill>
                  <a:srgbClr val="000000"/>
                </a:solidFill>
              </a:rPr>
              <a:t>✅ Monitor Assessment Performance and Intervene Quickly</a:t>
            </a:r>
            <a:endParaRPr b="1" sz="875">
              <a:solidFill>
                <a:srgbClr val="000000"/>
              </a:solidFill>
            </a:endParaRPr>
          </a:p>
          <a:p>
            <a:pPr indent="-284162" lvl="0" marL="457200" rtl="0" algn="l">
              <a:lnSpc>
                <a:spcPct val="95000"/>
              </a:lnSpc>
              <a:spcBef>
                <a:spcPts val="1200"/>
              </a:spcBef>
              <a:spcAft>
                <a:spcPts val="0"/>
              </a:spcAft>
              <a:buClr>
                <a:srgbClr val="000000"/>
              </a:buClr>
              <a:buSzPts val="875"/>
              <a:buFont typeface="Nunito"/>
              <a:buChar char="●"/>
            </a:pPr>
            <a:r>
              <a:rPr lang="en-GB" sz="875">
                <a:solidFill>
                  <a:srgbClr val="000000"/>
                </a:solidFill>
              </a:rPr>
              <a:t>Identify students with low assessment scores early and provide personalized feedback or tutoring.</a:t>
            </a:r>
            <a:br>
              <a:rPr lang="en-GB" sz="875">
                <a:solidFill>
                  <a:srgbClr val="000000"/>
                </a:solidFill>
              </a:rPr>
            </a:br>
            <a:endParaRPr sz="875">
              <a:solidFill>
                <a:srgbClr val="000000"/>
              </a:solidFill>
            </a:endParaRPr>
          </a:p>
          <a:p>
            <a:pPr indent="0" lvl="0" marL="0" rtl="0" algn="l">
              <a:lnSpc>
                <a:spcPct val="95000"/>
              </a:lnSpc>
              <a:spcBef>
                <a:spcPts val="1200"/>
              </a:spcBef>
              <a:spcAft>
                <a:spcPts val="0"/>
              </a:spcAft>
              <a:buSzPts val="275"/>
              <a:buNone/>
            </a:pPr>
            <a:r>
              <a:rPr lang="en-GB" sz="875">
                <a:solidFill>
                  <a:srgbClr val="000000"/>
                </a:solidFill>
              </a:rPr>
              <a:t>✅ </a:t>
            </a:r>
            <a:r>
              <a:rPr b="1" lang="en-GB" sz="875">
                <a:solidFill>
                  <a:srgbClr val="000000"/>
                </a:solidFill>
              </a:rPr>
              <a:t>Promote Consistent Participation Throughout the Course</a:t>
            </a:r>
            <a:endParaRPr b="1" sz="875">
              <a:solidFill>
                <a:srgbClr val="000000"/>
              </a:solidFill>
            </a:endParaRPr>
          </a:p>
          <a:p>
            <a:pPr indent="-284162" lvl="0" marL="457200" rtl="0" algn="l">
              <a:lnSpc>
                <a:spcPct val="95000"/>
              </a:lnSpc>
              <a:spcBef>
                <a:spcPts val="1200"/>
              </a:spcBef>
              <a:spcAft>
                <a:spcPts val="0"/>
              </a:spcAft>
              <a:buClr>
                <a:srgbClr val="000000"/>
              </a:buClr>
              <a:buSzPts val="875"/>
              <a:buFont typeface="Nunito"/>
              <a:buChar char="●"/>
            </a:pPr>
            <a:r>
              <a:rPr lang="en-GB" sz="875">
                <a:solidFill>
                  <a:srgbClr val="000000"/>
                </a:solidFill>
              </a:rPr>
              <a:t>Break down course content into weekly milestones to maintain student engagement.</a:t>
            </a:r>
            <a:br>
              <a:rPr lang="en-GB" sz="875">
                <a:solidFill>
                  <a:srgbClr val="000000"/>
                </a:solidFill>
              </a:rPr>
            </a:br>
            <a:endParaRPr sz="875">
              <a:solidFill>
                <a:srgbClr val="000000"/>
              </a:solidFill>
            </a:endParaRPr>
          </a:p>
          <a:p>
            <a:pPr indent="-284162" lvl="0" marL="457200" rtl="0" algn="l">
              <a:lnSpc>
                <a:spcPct val="95000"/>
              </a:lnSpc>
              <a:spcBef>
                <a:spcPts val="0"/>
              </a:spcBef>
              <a:spcAft>
                <a:spcPts val="0"/>
              </a:spcAft>
              <a:buClr>
                <a:srgbClr val="000000"/>
              </a:buClr>
              <a:buSzPts val="875"/>
              <a:buFont typeface="Nunito"/>
              <a:buChar char="●"/>
            </a:pPr>
            <a:r>
              <a:rPr lang="en-GB" sz="875">
                <a:solidFill>
                  <a:srgbClr val="000000"/>
                </a:solidFill>
              </a:rPr>
              <a:t>Provide incentives for regular participation to reduce dropout rates.</a:t>
            </a:r>
            <a:endParaRPr sz="875">
              <a:solidFill>
                <a:srgbClr val="000000"/>
              </a:solidFill>
            </a:endParaRPr>
          </a:p>
          <a:p>
            <a:pPr indent="0" lvl="0" marL="0" rtl="0" algn="l">
              <a:lnSpc>
                <a:spcPct val="95000"/>
              </a:lnSpc>
              <a:spcBef>
                <a:spcPts val="1200"/>
              </a:spcBef>
              <a:spcAft>
                <a:spcPts val="1200"/>
              </a:spcAft>
              <a:buSzPts val="275"/>
              <a:buNone/>
            </a:pPr>
            <a:r>
              <a:t/>
            </a:r>
            <a:endParaRPr sz="825"/>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